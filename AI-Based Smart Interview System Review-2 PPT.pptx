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1" r:id="rId14"/>
    <p:sldId id="270" r:id="rId15"/>
    <p:sldId id="269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"/>
            <a:ext cx="69494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1444752"/>
            <a:ext cx="48463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Arial"/>
              </a:rPr>
              <a:t>AI-BASED SMART</a:t>
            </a:r>
            <a:br>
              <a:rPr dirty="0"/>
            </a:br>
            <a:r>
              <a:rPr dirty="0"/>
              <a:t>INTERVIEW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3240" y="2212848"/>
            <a:ext cx="301752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1300" b="1" dirty="0">
                <a:solidFill>
                  <a:srgbClr val="126091"/>
                </a:solidFill>
                <a:latin typeface="Arial"/>
              </a:rPr>
              <a:t>SECOND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9" y="2633472"/>
            <a:ext cx="3948545" cy="6154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200" b="1" dirty="0">
                <a:solidFill>
                  <a:srgbClr val="1E1E1E"/>
                </a:solidFill>
                <a:latin typeface="Arial"/>
              </a:rPr>
              <a:t>Project Guide - Vasanth V (TL &amp; Software Engineer)</a:t>
            </a:r>
            <a:br>
              <a:rPr lang="en-IN" dirty="0"/>
            </a:br>
            <a:r>
              <a:rPr sz="1400" dirty="0"/>
              <a:t>Wittmann Battenfeld India Pvt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4096512"/>
            <a:ext cx="3520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E1E1E"/>
                </a:solidFill>
                <a:latin typeface="Arial"/>
              </a:rPr>
              <a:t>PRESENTED BY: NARESH KUMAR B - E0322008</a:t>
            </a:r>
          </a:p>
        </p:txBody>
      </p:sp>
      <p:pic>
        <p:nvPicPr>
          <p:cNvPr id="7" name="Picture 6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ABSTRACT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14400"/>
            <a:ext cx="7498079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AI-Based Smart Interview System automates first-level candidate screening for role-based interviews.</a:t>
            </a:r>
          </a:p>
          <a:p>
            <a:pPr>
              <a:spcAft>
                <a:spcPts val="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The current implementation includes OTP verification, resume upload, role selection, interview flow, answer scoring, camera monitoring, and report generation.</a:t>
            </a:r>
          </a:p>
          <a:p>
            <a:pPr>
              <a:spcAft>
                <a:spcPts val="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NLP scoring uses keyword matching, exact answer matching, TF-IDF cosine similarity, and communication quality scoring.</a:t>
            </a:r>
          </a:p>
          <a:p>
            <a:pPr>
              <a:spcAft>
                <a:spcPts val="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OpenCV is used for basic face presence and multiple-face alerts during the interview.</a:t>
            </a:r>
          </a:p>
          <a:p>
            <a:pPr>
              <a:spcAft>
                <a:spcPts val="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PostgreSQL stores the live editable question bank, candidate details, assigned interview papers, answers, scores, and report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DETAILED DESIGN FOR PROPOSED SYSTEM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Candidate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OTP + Resume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Role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Flask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515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AI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423160"/>
            <a:ext cx="1051560" cy="5029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DC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PostgreSQL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23160"/>
            <a:ext cx="1051560" cy="5029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DC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PDF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423160"/>
            <a:ext cx="1051560" cy="50292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19" b="1">
                <a:solidFill>
                  <a:srgbClr val="000000"/>
                </a:solidFill>
                <a:latin typeface="Arial"/>
              </a:rPr>
              <a:t>Admin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1303020"/>
            <a:ext cx="365759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79" y="1303020"/>
            <a:ext cx="365761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43400" y="1303020"/>
            <a:ext cx="3657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1303020"/>
            <a:ext cx="3657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8" idx="2"/>
          </p:cNvCxnSpPr>
          <p:nvPr/>
        </p:nvCxnSpPr>
        <p:spPr>
          <a:xfrm flipH="1">
            <a:off x="5943600" y="1554480"/>
            <a:ext cx="708660" cy="1106425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2674620"/>
            <a:ext cx="3657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78040" y="2674620"/>
            <a:ext cx="27432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767328"/>
            <a:ext cx="7772400" cy="32004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sz="1300" b="1">
                <a:solidFill>
                  <a:srgbClr val="1E1E1E"/>
                </a:solidFill>
                <a:latin typeface="Arial"/>
              </a:rPr>
              <a:t>Candidate Interface -&gt; Flask Routes -&gt; Question Assignment -&gt; NLP/OpenCV Evaluation -&gt; Database +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DETAILED DESIGN: MODULES AND DATA FLOW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HTML/CSS/JS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Speech input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Camera 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4173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Flask routes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Session handling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OTP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AI / CV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4173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TF-IDF scoring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Keyword scoring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Face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4173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roles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question_bank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interviews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868680"/>
            <a:ext cx="1417320" cy="41148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41732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Score summary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Shortlist status</a:t>
            </a:r>
          </a:p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t>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7772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50" b="1">
                <a:solidFill>
                  <a:srgbClr val="126091"/>
                </a:solidFill>
                <a:latin typeface="Arial"/>
              </a:rPr>
              <a:t>Design focus: each candidate receives a stored role-based question paper, so later question-bank edits do not change completed interview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CONTRIBUTION OF THE CANDIDATE (METHODOLOGY)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868680"/>
            <a:ext cx="772667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t>Collected requirements for a company-focused smart interview screening system.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t>Designed the end-to-end workflow: candidate registration, OTP verification, role selection, interview, evaluation, result, and admin review.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t>Implemented Flask backend routes and connected project modules for scoring, database, question bank, and report generation.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t>Prepared role-wise aptitude/programming question bank and PostgreSQL import/seed scripts.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t>Integrated NLP scoring and OpenCV-based camera monitoring for intermediate AI evaluation.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t>Tested complete demo flow and prepared second-review documentation.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METHODOLOGY: EVALUATION LOGIC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005840"/>
            <a:ext cx="123444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Answer Submitted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005840"/>
            <a:ext cx="105156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Clean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005840"/>
            <a:ext cx="1874519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Keyword + TF-IDF + Exact 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005840"/>
            <a:ext cx="150876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Communication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005840"/>
            <a:ext cx="1143000" cy="457200"/>
          </a:xfrm>
          <a:prstGeom prst="roundRect">
            <a:avLst/>
          </a:prstGeom>
          <a:solidFill>
            <a:srgbClr val="E2F0FA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Total Score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3080" y="1234440"/>
            <a:ext cx="18288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39" y="1234440"/>
            <a:ext cx="274321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03020" y="707967"/>
            <a:ext cx="6537960" cy="0"/>
          </a:xfrm>
          <a:prstGeom prst="line">
            <a:avLst/>
          </a:prstGeom>
          <a:ln w="15240">
            <a:solidFill>
              <a:srgbClr val="DC1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19659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1E1E1E"/>
                </a:solidFill>
                <a:latin typeface="Arial"/>
              </a:defRPr>
            </a:pPr>
            <a:r>
              <a:rPr dirty="0"/>
              <a:t>For aptitude and programming MCQ-style answers, exact answer matching is used.</a:t>
            </a:r>
          </a:p>
          <a:p>
            <a:pPr>
              <a:spcAft>
                <a:spcPts val="0"/>
              </a:spcAft>
              <a:defRPr sz="1450">
                <a:solidFill>
                  <a:srgbClr val="1E1E1E"/>
                </a:solidFill>
                <a:latin typeface="Arial"/>
              </a:defRPr>
            </a:pPr>
            <a:r>
              <a:rPr dirty="0"/>
              <a:t>For descriptive answers, total score = 35% keyword score + 45% semantic similarity + 20% communication score.</a:t>
            </a:r>
          </a:p>
          <a:p>
            <a:pPr>
              <a:spcAft>
                <a:spcPts val="0"/>
              </a:spcAft>
              <a:defRPr sz="1450">
                <a:solidFill>
                  <a:srgbClr val="1E1E1E"/>
                </a:solidFill>
                <a:latin typeface="Arial"/>
              </a:defRPr>
            </a:pPr>
            <a:r>
              <a:rPr dirty="0"/>
              <a:t>Face confidence is calculated from detected frames, centered frames, and stable frames.</a:t>
            </a:r>
          </a:p>
          <a:p>
            <a:pPr>
              <a:spcAft>
                <a:spcPts val="0"/>
              </a:spcAft>
              <a:defRPr sz="1450">
                <a:solidFill>
                  <a:srgbClr val="1E1E1E"/>
                </a:solidFill>
                <a:latin typeface="Arial"/>
              </a:defRPr>
            </a:pPr>
            <a:r>
              <a:rPr dirty="0"/>
              <a:t>Shortlist status is decided using interview score and basic camera confidence signals.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RESULTS OBTAINED (INTERMEDIATE)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822960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05256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100" b="1">
                <a:solidFill>
                  <a:srgbClr val="126091"/>
                </a:solidFill>
                <a:latin typeface="Arial"/>
              </a:rPr>
              <a:t>Candidate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3401568" cy="29260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rial"/>
              </a:rPr>
              <a:t>OTP verification, resume upload, role selection, interview page, result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822960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2040" y="905256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100" b="1">
                <a:solidFill>
                  <a:srgbClr val="126091"/>
                </a:solidFill>
                <a:latin typeface="Arial"/>
              </a:rPr>
              <a:t>Question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133856"/>
            <a:ext cx="3401568" cy="29260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rial"/>
              </a:rPr>
              <a:t>PostgreSQL live question bank with role-wise random paper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10512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7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100" b="1">
                <a:solidFill>
                  <a:srgbClr val="126091"/>
                </a:solidFill>
                <a:latin typeface="Arial"/>
              </a:rPr>
              <a:t>AI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21408"/>
            <a:ext cx="3401568" cy="29260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rial"/>
              </a:rPr>
              <a:t>NLP score, keyword match, semantic score, communication score, and feedback.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810512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1892807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100" b="1">
                <a:solidFill>
                  <a:srgbClr val="126091"/>
                </a:solidFill>
                <a:latin typeface="Arial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21408"/>
            <a:ext cx="3401568" cy="29260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rial"/>
              </a:rPr>
              <a:t>Face detected / missing / multiple-face alerts using OpenCV.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98064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100" b="1">
                <a:solidFill>
                  <a:srgbClr val="126091"/>
                </a:solidFill>
                <a:latin typeface="Arial"/>
              </a:rPr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3401568" cy="29260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rial"/>
              </a:rPr>
              <a:t>PDF candidate report with score, confidence index, shortlist status, and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798064"/>
            <a:ext cx="370332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2880360"/>
            <a:ext cx="1188720" cy="18288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l"/>
            <a:r>
              <a:rPr sz="1100" b="1">
                <a:solidFill>
                  <a:srgbClr val="126091"/>
                </a:solidFill>
                <a:latin typeface="Arial"/>
              </a:rPr>
              <a:t>Admin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108960"/>
            <a:ext cx="3401568" cy="292608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/>
            <a:r>
              <a:rPr sz="960" b="0">
                <a:solidFill>
                  <a:srgbClr val="1E1E1E"/>
                </a:solidFill>
                <a:latin typeface="Arial"/>
              </a:rPr>
              <a:t>Admin report page and database/question-bank support for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INTERMEDIATE OUTPUT AND PROJECT STATUS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" y="914400"/>
            <a:ext cx="23774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2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7300" y="967324"/>
            <a:ext cx="1143000" cy="4572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/>
            <a:r>
              <a:rPr sz="3400" b="1" dirty="0">
                <a:solidFill>
                  <a:srgbClr val="DC1E2D"/>
                </a:solidFill>
                <a:latin typeface="Arial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86563"/>
            <a:ext cx="1920240" cy="56692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1300" b="1" dirty="0">
                <a:solidFill>
                  <a:srgbClr val="126091"/>
                </a:solidFill>
                <a:latin typeface="Arial"/>
              </a:rPr>
              <a:t>Code implementation completed for second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" y="1889205"/>
            <a:ext cx="178765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E1E1E"/>
                </a:solidFill>
                <a:latin typeface="Arial"/>
              </a:defRPr>
            </a:pPr>
            <a:r>
              <a:rPr dirty="0"/>
              <a:t>Remaining work: final testing, dashboard polish, larger question bank validation, and report formatting refinement.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051560"/>
            <a:ext cx="4937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rPr dirty="0"/>
              <a:t>Working Flask application is available with candidate and admin screens.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rPr dirty="0"/>
              <a:t>Question bank has moved from static/local data toward PostgreSQL-backed editable storage.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rPr dirty="0"/>
              <a:t>Scoring and monitoring modules are integrated into the submit flow.</a:t>
            </a:r>
          </a:p>
          <a:p>
            <a:pPr>
              <a:spcAft>
                <a:spcPts val="0"/>
              </a:spcAft>
              <a:defRPr sz="1420">
                <a:solidFill>
                  <a:srgbClr val="1E1E1E"/>
                </a:solidFill>
                <a:latin typeface="Arial"/>
              </a:defRPr>
            </a:pPr>
            <a:r>
              <a:rPr dirty="0"/>
              <a:t>Generated reports are stored inside the project reports folder.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80% CODE IMPLEMENTATION SNAPSHOTS - FLASK WORKFLOW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126091"/>
                </a:solidFill>
                <a:latin typeface="Arial"/>
              </a:rPr>
              <a:t>app.py - interview and submit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l">
              <a:defRPr sz="860">
                <a:solidFill>
                  <a:srgbClr val="E8EEF5"/>
                </a:solidFill>
                <a:latin typeface="Consolas"/>
              </a:defRPr>
            </a:pPr>
            <a:r>
              <a:rPr sz="1019">
                <a:latin typeface="Consolas"/>
              </a:rPr>
              <a:t>@app.route("/interview")</a:t>
            </a:r>
            <a:br/>
            <a:r>
              <a:rPr sz="1019">
                <a:latin typeface="Consolas"/>
              </a:rPr>
              <a:t>def interview():</a:t>
            </a:r>
            <a:br/>
            <a:r>
              <a:rPr sz="1019">
                <a:latin typeface="Consolas"/>
              </a:rPr>
              <a:t>    questions = select_questions_for_role(role_slug)</a:t>
            </a:r>
            <a:br/>
            <a:r>
              <a:rPr sz="1019">
                <a:latin typeface="Consolas"/>
              </a:rPr>
              <a:t>    session["questions"] = questions</a:t>
            </a:r>
            <a:br/>
            <a:r>
              <a:rPr sz="1019">
                <a:latin typeface="Consolas"/>
              </a:rPr>
              <a:t>    session["face_stats"] = {"total_frames": 0,</a:t>
            </a:r>
            <a:br/>
            <a:r>
              <a:rPr sz="1019">
                <a:latin typeface="Consolas"/>
              </a:rPr>
              <a:t>        "detected_frames": 0, "stable_frames": 0}</a:t>
            </a:r>
            <a:br/>
            <a:r>
              <a:rPr sz="1019">
                <a:latin typeface="Consolas"/>
              </a:rPr>
              <a:t>    return render_template("interview.html", questions=questions)</a:t>
            </a:r>
            <a:br/>
            <a:br/>
            <a:r>
              <a:rPr sz="1019">
                <a:latin typeface="Consolas"/>
              </a:rPr>
              <a:t>@app.route("/api/submit", methods=["POST"])</a:t>
            </a:r>
            <a:br/>
            <a:r>
              <a:rPr sz="1019">
                <a:latin typeface="Consolas"/>
              </a:rPr>
              <a:t>def submit_interview():</a:t>
            </a:r>
            <a:br/>
            <a:r>
              <a:rPr sz="1019">
                <a:latin typeface="Consolas"/>
              </a:rPr>
              <a:t>    results = [score_answer(ans, question)</a:t>
            </a:r>
            <a:br/>
            <a:r>
              <a:rPr sz="1019">
                <a:latin typeface="Consolas"/>
              </a:rPr>
              <a:t>               for question, ans in submitted_answers]</a:t>
            </a:r>
            <a:br/>
            <a:r>
              <a:rPr sz="1019">
                <a:latin typeface="Consolas"/>
              </a:rPr>
              <a:t>    report_path = generate_pdf_report(candidate_name,</a:t>
            </a:r>
            <a:br/>
            <a:r>
              <a:rPr sz="1019">
                <a:latin typeface="Consolas"/>
              </a:rPr>
              <a:t>                                      results, face_summary, REPORT_DIR)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80% CODE IMPLEMENTATION SNAPSHOTS - NLP SCORING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126091"/>
                </a:solidFill>
                <a:latin typeface="Arial"/>
              </a:rPr>
              <a:t>utils/scoring.py - scoring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l">
              <a:defRPr sz="860">
                <a:solidFill>
                  <a:srgbClr val="E8EEF5"/>
                </a:solidFill>
                <a:latin typeface="Consolas"/>
              </a:defRPr>
            </a:pPr>
            <a:r>
              <a:rPr sz="1019">
                <a:latin typeface="Consolas"/>
              </a:rPr>
              <a:t>def score_answer(answer, question):</a:t>
            </a:r>
            <a:br/>
            <a:r>
              <a:rPr sz="1019">
                <a:latin typeface="Consolas"/>
              </a:rPr>
              <a:t>    if question.get("category") in {"Aptitude", "Programming"}:</a:t>
            </a:r>
            <a:br/>
            <a:r>
              <a:rPr sz="1019">
                <a:latin typeface="Consolas"/>
              </a:rPr>
              <a:t>        exact = exact_answer_score(answer, question["correct_answer"])</a:t>
            </a:r>
            <a:br/>
            <a:r>
              <a:rPr sz="1019">
                <a:latin typeface="Consolas"/>
              </a:rPr>
              <a:t>        return {"total_score": round(exact * 100, 2)}</a:t>
            </a:r>
            <a:br/>
            <a:br/>
            <a:r>
              <a:rPr sz="1019">
                <a:latin typeface="Consolas"/>
              </a:rPr>
              <a:t>    kw = keyword_score(answer, question.get("keywords", []))</a:t>
            </a:r>
            <a:br/>
            <a:r>
              <a:rPr sz="1019">
                <a:latin typeface="Consolas"/>
              </a:rPr>
              <a:t>    sem = semantic_score(answer, question.get("ideal_answer", ""))</a:t>
            </a:r>
            <a:br/>
            <a:r>
              <a:rPr sz="1019">
                <a:latin typeface="Consolas"/>
              </a:rPr>
              <a:t>    comm = communication_score(answer)</a:t>
            </a:r>
            <a:br/>
            <a:r>
              <a:rPr sz="1019">
                <a:latin typeface="Consolas"/>
              </a:rPr>
              <a:t>    total = (kw * 0.35) + (sem * 0.45) + (comm * 0.20)</a:t>
            </a:r>
            <a:br/>
            <a:r>
              <a:rPr sz="1019">
                <a:latin typeface="Consolas"/>
              </a:rPr>
              <a:t>    return {"keyword_score": round(kw*100,2),</a:t>
            </a:r>
            <a:br/>
            <a:r>
              <a:rPr sz="1019">
                <a:latin typeface="Consolas"/>
              </a:rPr>
              <a:t>            "semantic_score": round(sem*100,2),</a:t>
            </a:r>
            <a:br/>
            <a:r>
              <a:rPr sz="1019">
                <a:latin typeface="Consolas"/>
              </a:rPr>
              <a:t>            "communication_score": round(comm*100,2),</a:t>
            </a:r>
            <a:br/>
            <a:r>
              <a:rPr sz="1019">
                <a:latin typeface="Consolas"/>
              </a:rPr>
              <a:t>            "total_score": round(total*100,2)}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80% CODE IMPLEMENTATION SNAPSHOTS - POSTGRESQL QUESTION BANK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126091"/>
                </a:solidFill>
                <a:latin typeface="Arial"/>
              </a:rPr>
              <a:t>utils/question_bank.py and utils/database.py - editable live question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l">
              <a:defRPr sz="860">
                <a:solidFill>
                  <a:srgbClr val="E8EEF5"/>
                </a:solidFill>
                <a:latin typeface="Consolas"/>
              </a:defRPr>
            </a:pPr>
            <a:r>
              <a:rPr sz="1019">
                <a:latin typeface="Consolas"/>
              </a:rPr>
              <a:t>CREATE TABLE IF NOT EXISTS question_bank (</a:t>
            </a:r>
            <a:br/>
            <a:r>
              <a:rPr sz="1019">
                <a:latin typeface="Consolas"/>
              </a:rPr>
              <a:t>    question_id SERIAL PRIMARY KEY,</a:t>
            </a:r>
            <a:br/>
            <a:r>
              <a:rPr sz="1019">
                <a:latin typeface="Consolas"/>
              </a:rPr>
              <a:t>    question_code TEXT UNIQUE,</a:t>
            </a:r>
            <a:br/>
            <a:r>
              <a:rPr sz="1019">
                <a:latin typeface="Consolas"/>
              </a:rPr>
              <a:t>    role_slug TEXT NOT NULL,</a:t>
            </a:r>
            <a:br/>
            <a:r>
              <a:rPr sz="1019">
                <a:latin typeface="Consolas"/>
              </a:rPr>
              <a:t>    section TEXT NOT NULL,</a:t>
            </a:r>
            <a:br/>
            <a:r>
              <a:rPr sz="1019">
                <a:latin typeface="Consolas"/>
              </a:rPr>
              <a:t>    topic TEXT NOT NULL,</a:t>
            </a:r>
            <a:br/>
            <a:r>
              <a:rPr sz="1019">
                <a:latin typeface="Consolas"/>
              </a:rPr>
              <a:t>    question_text TEXT NOT NULL,</a:t>
            </a:r>
            <a:br/>
            <a:r>
              <a:rPr sz="1019">
                <a:latin typeface="Consolas"/>
              </a:rPr>
              <a:t>    options JSONB NOT NULL DEFAULT '[]'::jsonb,</a:t>
            </a:r>
            <a:br/>
            <a:r>
              <a:rPr sz="1019">
                <a:latin typeface="Consolas"/>
              </a:rPr>
              <a:t>    correct_answer TEXT NOT NULL,</a:t>
            </a:r>
            <a:br/>
            <a:r>
              <a:rPr sz="1019">
                <a:latin typeface="Consolas"/>
              </a:rPr>
              <a:t>    keywords JSONB NOT NULL DEFAULT '[]'::jsonb,</a:t>
            </a:r>
            <a:br/>
            <a:r>
              <a:rPr sz="1019">
                <a:latin typeface="Consolas"/>
              </a:rPr>
              <a:t>    assignment_count INTEGER NOT NULL DEFAULT 0,</a:t>
            </a:r>
            <a:br/>
            <a:r>
              <a:rPr sz="1019">
                <a:latin typeface="Consolas"/>
              </a:rPr>
              <a:t>    active BOOLEAN NOT NULL DEFAULT TRUE</a:t>
            </a:r>
            <a:br/>
            <a:r>
              <a:rPr sz="1019"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80% CODE IMPLEMENTATION SNAPSHOTS - CAMERA MONITORING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1792"/>
            <a:ext cx="8138160" cy="2286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126091"/>
                </a:solidFill>
                <a:latin typeface="Arial"/>
              </a:rPr>
              <a:t>static/js/interview.js and app.py - OpenCV face monitoring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solidFill>
            <a:srgbClr val="1C2026"/>
          </a:solidFill>
          <a:ln w="12700"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73152" rtlCol="0" anchor="t"/>
          <a:lstStyle/>
          <a:p>
            <a:pPr algn="l">
              <a:defRPr sz="860">
                <a:solidFill>
                  <a:srgbClr val="E8EEF5"/>
                </a:solidFill>
                <a:latin typeface="Consolas"/>
              </a:defRPr>
            </a:pPr>
            <a:r>
              <a:rPr sz="1019">
                <a:latin typeface="Consolas"/>
              </a:rPr>
              <a:t>async function analyzeCameraFrame() {</a:t>
            </a:r>
            <a:br/>
            <a:r>
              <a:rPr sz="1019">
                <a:latin typeface="Consolas"/>
              </a:rPr>
              <a:t>  const response = await fetch('/api/analyze-frame', {</a:t>
            </a:r>
            <a:br/>
            <a:r>
              <a:rPr sz="1019">
                <a:latin typeface="Consolas"/>
              </a:rPr>
              <a:t>    method: 'POST',</a:t>
            </a:r>
            <a:br/>
            <a:r>
              <a:rPr sz="1019">
                <a:latin typeface="Consolas"/>
              </a:rPr>
              <a:t>    headers: {'Content-Type': 'application/json'},</a:t>
            </a:r>
            <a:br/>
            <a:r>
              <a:rPr sz="1019">
                <a:latin typeface="Consolas"/>
              </a:rPr>
              <a:t>    body: JSON.stringify({image: canvas.toDataURL('image/jpeg')})</a:t>
            </a:r>
            <a:br/>
            <a:r>
              <a:rPr sz="1019">
                <a:latin typeface="Consolas"/>
              </a:rPr>
              <a:t>  });</a:t>
            </a:r>
            <a:br/>
            <a:r>
              <a:rPr sz="1019">
                <a:latin typeface="Consolas"/>
              </a:rPr>
              <a:t>  const data = await response.json();</a:t>
            </a:r>
            <a:br/>
            <a:r>
              <a:rPr sz="1019">
                <a:latin typeface="Consolas"/>
              </a:rPr>
              <a:t>  if (data.face_detected) faceStatus.innerText = 'Face detected';</a:t>
            </a:r>
            <a:br/>
            <a:r>
              <a:rPr sz="1019">
                <a:latin typeface="Consolas"/>
              </a:rPr>
              <a:t>  if (data.multiple_faces) triggerAlarm(data.alert_reason);</a:t>
            </a:r>
            <a:br/>
            <a:r>
              <a:rPr sz="1019">
                <a:latin typeface="Consolas"/>
              </a:rPr>
              <a:t>}</a:t>
            </a:r>
            <a:br/>
            <a:br/>
            <a:r>
              <a:rPr sz="1019">
                <a:latin typeface="Consolas"/>
              </a:rPr>
              <a:t># Flask endpoint uses OpenCV Haar Cascade</a:t>
            </a:r>
            <a:br/>
            <a:r>
              <a:rPr sz="1019">
                <a:latin typeface="Consolas"/>
              </a:rPr>
              <a:t>faces = face_cascade.detectMultiScale(gray, 1.2, 5,</a:t>
            </a:r>
            <a:br/>
            <a:r>
              <a:rPr sz="1019">
                <a:latin typeface="Consolas"/>
              </a:rPr>
              <a:t>                                      minSize=(60, 60))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7C433-5D4E-E6AF-00A5-989DB39C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37272"/>
            <a:ext cx="8178799" cy="40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08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8321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REFERENCES</a:t>
            </a:r>
          </a:p>
        </p:txBody>
      </p:sp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749808"/>
            <a:ext cx="822960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I. Naim et al., "Automated Prediction and Analysis of Job Interview Performance", 2015.</a:t>
            </a:r>
          </a:p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L. Nguyen and D. Gatica-Perez, "</a:t>
            </a:r>
            <a:r>
              <a:rPr dirty="0" err="1"/>
              <a:t>Hirability</a:t>
            </a:r>
            <a:r>
              <a:rPr dirty="0"/>
              <a:t> in the Wild: Analysis of Online Video Resumes", 2016.</a:t>
            </a:r>
          </a:p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L. Chen et al., "Automated Video Interview Judgment on Large Corpus", 2017.</a:t>
            </a:r>
          </a:p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F. Pedregosa et al., "Scikit-learn: Machine Learning in Python", 2011.</a:t>
            </a:r>
          </a:p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K. Sparck Jones, "A Statistical Interpretation of Term Specificity", 1972.</a:t>
            </a:r>
          </a:p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G. </a:t>
            </a:r>
            <a:r>
              <a:rPr dirty="0" err="1"/>
              <a:t>Bradski</a:t>
            </a:r>
            <a:r>
              <a:rPr dirty="0"/>
              <a:t>, "The OpenCV Library", 2000.</a:t>
            </a:r>
          </a:p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J. Devlin et al., "BERT: Pre-training of Deep Bidirectional Transformers", 2019.</a:t>
            </a:r>
          </a:p>
          <a:p>
            <a:pPr>
              <a:spcAft>
                <a:spcPts val="0"/>
              </a:spcAft>
              <a:defRPr sz="1170">
                <a:solidFill>
                  <a:srgbClr val="1E1E1E"/>
                </a:solidFill>
                <a:latin typeface="Arial"/>
              </a:defRPr>
            </a:pPr>
            <a:r>
              <a:rPr dirty="0"/>
              <a:t>H. Suen et al., "Artificial Intelligence in Personnel Selection", 2019.</a:t>
            </a:r>
          </a:p>
        </p:txBody>
      </p:sp>
    </p:spTree>
    <p:extLst>
      <p:ext uri="{BB962C8B-B14F-4D97-AF65-F5344CB8AC3E}">
        <p14:creationId xmlns:p14="http://schemas.microsoft.com/office/powerpoint/2010/main" val="1520850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"/>
            <a:ext cx="69494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0360" y="1993392"/>
            <a:ext cx="3383280" cy="5029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sz="3000" b="1">
                <a:solidFill>
                  <a:srgbClr val="126091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633472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1E1E1E"/>
                </a:solidFill>
                <a:latin typeface="Arial"/>
              </a:rPr>
              <a:t>AI-Based Smart Interview System | Second Review</a:t>
            </a:r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272"/>
            <a:ext cx="9144000" cy="6812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1386</Words>
  <Application>Microsoft Office PowerPoint</Application>
  <PresentationFormat>On-screen Show (16:9)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Naresh kumar B.</dc:creator>
  <cp:keywords/>
  <dc:description>generated using python-pptx</dc:description>
  <cp:lastModifiedBy>Baskaran, Nareshkumar</cp:lastModifiedBy>
  <cp:revision>2</cp:revision>
  <dcterms:created xsi:type="dcterms:W3CDTF">2013-01-27T09:14:16Z</dcterms:created>
  <dcterms:modified xsi:type="dcterms:W3CDTF">2026-05-30T06:51:06Z</dcterms:modified>
  <cp:category/>
</cp:coreProperties>
</file>